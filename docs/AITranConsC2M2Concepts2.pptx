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embeddedFontLst>
    <p:embeddedFont>
      <p:font typeface="Crimson Pro SemiBold"/>
      <p:regular r:id="rId201314"/>
    </p:embeddedFont>
    <p:embeddedFont>
      <p:font typeface="Heebo"/>
      <p:regular r:id="rId201315"/>
    </p:embeddedFont>
    <p:embeddedFont>
      <p:font typeface="Heebo Bold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2.png"/><Relationship Id="rId5" Type="http://schemas.openxmlformats.org/officeDocument/2006/relationships/image" Target="../media/image-3-3.sv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2659360"/>
            <a:ext cx="1145948" cy="287139"/>
          </a:xfrm>
          <a:prstGeom prst="roundRect">
            <a:avLst>
              <a:gd name="adj" fmla="val 7899"/>
            </a:avLst>
          </a:prstGeom>
          <a:noFill/>
          <a:ln w="6350">
            <a:solidFill>
              <a:srgbClr val="2150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4879" y="2716014"/>
            <a:ext cx="1528724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2150F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FRAMEWORK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3022104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Screening Dimensions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661475" y="3896221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screening dimension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is a separable question you judge a candidate on — each one answers something unique and important.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1954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The Seven Dimensions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1788220"/>
            <a:ext cx="3496877" cy="1391543"/>
          </a:xfrm>
          <a:prstGeom prst="roundRect">
            <a:avLst>
              <a:gd name="adj" fmla="val 2038"/>
            </a:avLst>
          </a:prstGeom>
          <a:solidFill>
            <a:srgbClr val="F2EEEE"/>
          </a:solidFill>
          <a:ln/>
        </p:spPr>
      </p:sp>
      <p:sp>
        <p:nvSpPr>
          <p:cNvPr id="4" name="Text 2"/>
          <p:cNvSpPr/>
          <p:nvPr/>
        </p:nvSpPr>
        <p:spPr>
          <a:xfrm>
            <a:off x="850482" y="1977231"/>
            <a:ext cx="31188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Business Value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50482" y="2385913"/>
            <a:ext cx="3118863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Does the outcome matter to the organization?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347359" y="1788220"/>
            <a:ext cx="3496877" cy="1391543"/>
          </a:xfrm>
          <a:prstGeom prst="roundRect">
            <a:avLst>
              <a:gd name="adj" fmla="val 2038"/>
            </a:avLst>
          </a:prstGeom>
          <a:solidFill>
            <a:srgbClr val="F2EEEE"/>
          </a:solidFill>
          <a:ln/>
        </p:spPr>
      </p:sp>
      <p:sp>
        <p:nvSpPr>
          <p:cNvPr id="7" name="Text 5"/>
          <p:cNvSpPr/>
          <p:nvPr/>
        </p:nvSpPr>
        <p:spPr>
          <a:xfrm>
            <a:off x="4536366" y="1977231"/>
            <a:ext cx="31188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Workflow Fit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4536366" y="2385913"/>
            <a:ext cx="3118863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Does the change land where work actually happens?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033244" y="1788220"/>
            <a:ext cx="3496877" cy="1391543"/>
          </a:xfrm>
          <a:prstGeom prst="roundRect">
            <a:avLst>
              <a:gd name="adj" fmla="val 2038"/>
            </a:avLst>
          </a:prstGeom>
          <a:solidFill>
            <a:srgbClr val="F2EEEE"/>
          </a:solidFill>
          <a:ln/>
        </p:spPr>
      </p:sp>
      <p:sp>
        <p:nvSpPr>
          <p:cNvPr id="10" name="Text 8"/>
          <p:cNvSpPr/>
          <p:nvPr/>
        </p:nvSpPr>
        <p:spPr>
          <a:xfrm>
            <a:off x="8222251" y="1977231"/>
            <a:ext cx="31188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Data Readiness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8222251" y="2385913"/>
            <a:ext cx="3118863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Do the inputs exist and can they be used?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61475" y="3368774"/>
            <a:ext cx="3496877" cy="1391543"/>
          </a:xfrm>
          <a:prstGeom prst="roundRect">
            <a:avLst>
              <a:gd name="adj" fmla="val 2038"/>
            </a:avLst>
          </a:prstGeom>
          <a:solidFill>
            <a:srgbClr val="F2EEEE"/>
          </a:solidFill>
          <a:ln/>
        </p:spPr>
      </p:sp>
      <p:sp>
        <p:nvSpPr>
          <p:cNvPr id="13" name="Text 11"/>
          <p:cNvSpPr/>
          <p:nvPr/>
        </p:nvSpPr>
        <p:spPr>
          <a:xfrm>
            <a:off x="850482" y="3557786"/>
            <a:ext cx="31188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Technical Feasibility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850482" y="3966468"/>
            <a:ext cx="311886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Can a team build and maintain it?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4347359" y="3368774"/>
            <a:ext cx="3496877" cy="1391543"/>
          </a:xfrm>
          <a:prstGeom prst="roundRect">
            <a:avLst>
              <a:gd name="adj" fmla="val 2038"/>
            </a:avLst>
          </a:prstGeom>
          <a:solidFill>
            <a:srgbClr val="F2EEEE"/>
          </a:solidFill>
          <a:ln/>
        </p:spPr>
      </p:sp>
      <p:sp>
        <p:nvSpPr>
          <p:cNvPr id="16" name="Text 14"/>
          <p:cNvSpPr/>
          <p:nvPr/>
        </p:nvSpPr>
        <p:spPr>
          <a:xfrm>
            <a:off x="4536366" y="3557786"/>
            <a:ext cx="31188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Risk</a:t>
            </a:r>
            <a:endParaRPr lang="en-US" sz="1850" dirty="0"/>
          </a:p>
        </p:txBody>
      </p:sp>
      <p:sp>
        <p:nvSpPr>
          <p:cNvPr id="17" name="Text 15"/>
          <p:cNvSpPr/>
          <p:nvPr/>
        </p:nvSpPr>
        <p:spPr>
          <a:xfrm>
            <a:off x="4536366" y="3966468"/>
            <a:ext cx="311886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What exposure does it create?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8033244" y="3368774"/>
            <a:ext cx="3496877" cy="1391543"/>
          </a:xfrm>
          <a:prstGeom prst="roundRect">
            <a:avLst>
              <a:gd name="adj" fmla="val 2038"/>
            </a:avLst>
          </a:prstGeom>
          <a:solidFill>
            <a:srgbClr val="F2EEEE"/>
          </a:solidFill>
          <a:ln/>
        </p:spPr>
      </p:sp>
      <p:sp>
        <p:nvSpPr>
          <p:cNvPr id="19" name="Text 17"/>
          <p:cNvSpPr/>
          <p:nvPr/>
        </p:nvSpPr>
        <p:spPr>
          <a:xfrm>
            <a:off x="8222251" y="3557786"/>
            <a:ext cx="31188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Sponsorship</a:t>
            </a:r>
            <a:endParaRPr lang="en-US" sz="1850" dirty="0"/>
          </a:p>
        </p:txBody>
      </p:sp>
      <p:sp>
        <p:nvSpPr>
          <p:cNvPr id="20" name="Text 18"/>
          <p:cNvSpPr/>
          <p:nvPr/>
        </p:nvSpPr>
        <p:spPr>
          <a:xfrm>
            <a:off x="8222251" y="3966468"/>
            <a:ext cx="3118863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Will a named person own it after the project team leaves?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661475" y="4949329"/>
            <a:ext cx="10868646" cy="1089124"/>
          </a:xfrm>
          <a:prstGeom prst="roundRect">
            <a:avLst>
              <a:gd name="adj" fmla="val 2603"/>
            </a:avLst>
          </a:prstGeom>
          <a:solidFill>
            <a:srgbClr val="F2EEEE"/>
          </a:solidFill>
          <a:ln/>
        </p:spPr>
      </p:sp>
      <p:sp>
        <p:nvSpPr>
          <p:cNvPr id="22" name="Text 20"/>
          <p:cNvSpPr/>
          <p:nvPr/>
        </p:nvSpPr>
        <p:spPr>
          <a:xfrm>
            <a:off x="850482" y="5138341"/>
            <a:ext cx="1049063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Measurement Clarity</a:t>
            </a:r>
            <a:endParaRPr lang="en-US" sz="1850" dirty="0"/>
          </a:p>
        </p:txBody>
      </p:sp>
      <p:sp>
        <p:nvSpPr>
          <p:cNvPr id="23" name="Text 21"/>
          <p:cNvSpPr/>
          <p:nvPr/>
        </p:nvSpPr>
        <p:spPr>
          <a:xfrm>
            <a:off x="850482" y="5547023"/>
            <a:ext cx="1049063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Could anyone tell, six months later, that it worked?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8346"/>
            <a:ext cx="10868745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Why Separation Buys Traceability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661475" y="2925167"/>
            <a:ext cx="7024313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When two reviewers disagree, the difference sits in </a:t>
            </a:r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one dimension</a:t>
            </a:r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— which points to a fact, and the fact belongs to somebody who knows it.</a:t>
            </a:r>
            <a:endParaRPr lang="en-US" sz="1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15405" y="1587302"/>
            <a:ext cx="3235839" cy="323592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5207000"/>
            <a:ext cx="5349047" cy="107265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67954" y="5411887"/>
            <a:ext cx="4837686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Data Readiness dispute?</a:t>
            </a:r>
            <a:endParaRPr lang="en-US" sz="1750" dirty="0"/>
          </a:p>
        </p:txBody>
      </p:sp>
      <p:sp>
        <p:nvSpPr>
          <p:cNvPr id="7" name="Text 3"/>
          <p:cNvSpPr/>
          <p:nvPr/>
        </p:nvSpPr>
        <p:spPr>
          <a:xfrm>
            <a:off x="967954" y="5794673"/>
            <a:ext cx="4837686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→ Go to the person who owns the records.</a:t>
            </a:r>
            <a:endParaRPr lang="en-US" sz="14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81074" y="5207000"/>
            <a:ext cx="5349146" cy="107265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487553" y="5411887"/>
            <a:ext cx="4837785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Sponsorship dispute?</a:t>
            </a:r>
            <a:endParaRPr lang="en-US" sz="1750" dirty="0"/>
          </a:p>
        </p:txBody>
      </p:sp>
      <p:sp>
        <p:nvSpPr>
          <p:cNvPr id="10" name="Text 5"/>
          <p:cNvSpPr/>
          <p:nvPr/>
        </p:nvSpPr>
        <p:spPr>
          <a:xfrm>
            <a:off x="6487553" y="5794673"/>
            <a:ext cx="4837785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→ Go to the function that would inherit the system.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51719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What Blending Costs You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138462"/>
            <a:ext cx="6903269" cy="345509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92583" y="3720754"/>
            <a:ext cx="1296490" cy="1939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Low Persuasion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3338793" y="5299382"/>
            <a:ext cx="1551651" cy="1939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Low Traceability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230250" y="3720754"/>
            <a:ext cx="1296490" cy="1939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High Persuasion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3334914" y="2280269"/>
            <a:ext cx="1551651" cy="1939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High Traceability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2595940" y="4531511"/>
            <a:ext cx="1330971" cy="310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Conviction-Driven Choices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4423439" y="4615992"/>
            <a:ext cx="1330972" cy="155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Data-First Screenings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4423439" y="3262574"/>
            <a:ext cx="1330972" cy="310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Blended Impression Decisions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2554563" y="3262574"/>
            <a:ext cx="1330971" cy="310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Precise &amp; Traceable Decisions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8315712" y="2958703"/>
            <a:ext cx="3220758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Blend these dimensions into one overall impression and you lose traceability. The conversation then runs on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conviction and personality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instead of precise screening data everyone understands.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8032251" y="2788642"/>
            <a:ext cx="25399" cy="2154634"/>
          </a:xfrm>
          <a:prstGeom prst="roundRect">
            <a:avLst>
              <a:gd name="adj" fmla="val 50001"/>
            </a:avLst>
          </a:prstGeom>
          <a:solidFill>
            <a:srgbClr val="2150FE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2165052"/>
            <a:ext cx="1086120" cy="287139"/>
          </a:xfrm>
          <a:prstGeom prst="roundRect">
            <a:avLst>
              <a:gd name="adj" fmla="val 7899"/>
            </a:avLst>
          </a:prstGeom>
          <a:solidFill>
            <a:srgbClr val="CCD7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4879" y="2233017"/>
            <a:ext cx="151206" cy="15120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1687" y="2221706"/>
            <a:ext cx="1242088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TRY THIS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661475" y="2527796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One Sentence Per Dimension</a:t>
            </a:r>
            <a:endParaRPr lang="en-US" sz="3700" dirty="0"/>
          </a:p>
        </p:txBody>
      </p:sp>
      <p:sp>
        <p:nvSpPr>
          <p:cNvPr id="6" name="Text 3"/>
          <p:cNvSpPr/>
          <p:nvPr/>
        </p:nvSpPr>
        <p:spPr>
          <a:xfrm>
            <a:off x="661475" y="3401913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With the next proposal that crosses your desk, write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one sentence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under each of the seven questions.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275723" y="3981847"/>
            <a:ext cx="470195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Notice which sentences you </a:t>
            </a:r>
            <a:pPr algn="l" indent="0" marL="0">
              <a:lnSpc>
                <a:spcPct val="104000"/>
              </a:lnSpc>
              <a:buNone/>
            </a:pPr>
            <a:r>
              <a:rPr lang="en-US" sz="1850" i="1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cannot</a:t>
            </a:r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 write.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1275723" y="4390529"/>
            <a:ext cx="470195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Those blanks are conversations you need to have.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6828163" y="3981847"/>
            <a:ext cx="470205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Every blank names a person.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6828163" y="4390529"/>
            <a:ext cx="4702057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Someone holds the answer you do not have yet.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2026-09-18T20:06:48Z</dcterms:created>
  <dcterms:modified xsi:type="dcterms:W3CDTF">2026-09-18T20:06:48Z</dcterms:modified>
</cp:coreProperties>
</file>