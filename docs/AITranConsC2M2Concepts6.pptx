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IBM Plex Sans"/>
      <p:regular r:id="rId201314"/>
    </p:embeddedFont>
    <p:embeddedFont>
      <p:font typeface="IBM Plex Sans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34901"/>
            <a:ext cx="1149817" cy="287139"/>
          </a:xfrm>
          <a:prstGeom prst="roundRect">
            <a:avLst>
              <a:gd name="adj" fmla="val 2654"/>
            </a:avLst>
          </a:prstGeom>
          <a:solidFill>
            <a:srgbClr val="D6CDFE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691555"/>
            <a:ext cx="153259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FRAMEWORK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9764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Qualifying Against the Existing Workflow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87176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AI candidate is evaluated against the workflow an organization runs today —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mapped as steps, with a named owner at each.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4903" y="2689225"/>
            <a:ext cx="9761789" cy="35338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31494" y="5349612"/>
            <a:ext cx="2028853" cy="315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Measure Baseline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931494" y="4284467"/>
            <a:ext cx="2380892" cy="315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Identify Touchpoints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931494" y="3208454"/>
            <a:ext cx="1658982" cy="315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Map Workflow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699022"/>
            <a:ext cx="1728347" cy="287139"/>
          </a:xfrm>
          <a:prstGeom prst="roundRect">
            <a:avLst>
              <a:gd name="adj" fmla="val 2654"/>
            </a:avLst>
          </a:prstGeom>
          <a:noFill/>
          <a:ln w="6350">
            <a:solidFill>
              <a:srgbClr val="D4C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755676"/>
            <a:ext cx="211112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4CA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CORE PRINCIPLE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06176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Why the Baseline Matters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525350" y="2935883"/>
            <a:ext cx="5476043" cy="2223095"/>
          </a:xfrm>
          <a:prstGeom prst="roundRect">
            <a:avLst>
              <a:gd name="adj" fmla="val 1275"/>
            </a:avLst>
          </a:prstGeom>
          <a:solidFill>
            <a:srgbClr val="D4CAFE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14357" y="3124895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The Arithmetic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14357" y="3609181"/>
            <a:ext cx="5098029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Baseline + promised improvement = new expected outcome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candidate anchored to a current process has a denominator.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32776" y="312489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Without a Baseline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32776" y="3609181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measurable denominator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Savings become abstract ideas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Nobody can verify the number — including the author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850926"/>
            <a:ext cx="1092073" cy="287139"/>
          </a:xfrm>
          <a:prstGeom prst="roundRect">
            <a:avLst>
              <a:gd name="adj" fmla="val 2654"/>
            </a:avLst>
          </a:prstGeom>
          <a:noFill/>
          <a:ln w="6350">
            <a:solidFill>
              <a:srgbClr val="D4C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907580"/>
            <a:ext cx="147485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4CA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DEBATE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2136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Two Valid Perspectives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3087787"/>
            <a:ext cx="10868745" cy="1404243"/>
          </a:xfrm>
          <a:prstGeom prst="roundRect">
            <a:avLst>
              <a:gd name="adj" fmla="val 543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825" y="3094137"/>
            <a:ext cx="5428023" cy="1391543"/>
          </a:xfrm>
          <a:custGeom>
            <a:avLst/>
            <a:gdLst/>
            <a:ahLst/>
            <a:cxnLst/>
            <a:rect l="l" t="t" r="r" b="b"/>
            <a:pathLst>
              <a:path w="5428023" h="1391543">
                <a:moveTo>
                  <a:pt x="6350" y="0"/>
                </a:moveTo>
                <a:lnTo>
                  <a:pt x="5428023" y="0"/>
                </a:lnTo>
                <a:lnTo>
                  <a:pt x="5428023" y="1391543"/>
                </a:lnTo>
                <a:lnTo>
                  <a:pt x="6350" y="1391543"/>
                </a:lnTo>
                <a:arcTo hR="6350" wR="6350" stAng="5400000" swAng="5400000"/>
                <a:lnTo>
                  <a:pt x="0" y="6350"/>
                </a:lnTo>
                <a:arcTo hR="6350" wR="6350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856832" y="3283148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Governance View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6832" y="3691830"/>
            <a:ext cx="50500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Few AI-native workflows exist yet. Map what runs now, confirm it works, place AI at specific steps.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95848" y="3094137"/>
            <a:ext cx="5428023" cy="1391543"/>
          </a:xfrm>
          <a:custGeom>
            <a:avLst/>
            <a:gdLst/>
            <a:ahLst/>
            <a:cxnLst/>
            <a:rect l="l" t="t" r="r" b="b"/>
            <a:pathLst>
              <a:path w="5428023" h="1391543">
                <a:moveTo>
                  <a:pt x="0" y="0"/>
                </a:moveTo>
                <a:lnTo>
                  <a:pt x="5421673" y="0"/>
                </a:lnTo>
                <a:arcTo hR="6350" wR="6350" stAng="16200000" swAng="5400000"/>
                <a:lnTo>
                  <a:pt x="5428023" y="1385193"/>
                </a:lnTo>
                <a:arcTo hR="6350" wR="6350" stAng="0" swAng="5400000"/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094137"/>
            <a:ext cx="25399" cy="1391543"/>
          </a:xfrm>
          <a:prstGeom prst="roundRect">
            <a:avLst>
              <a:gd name="adj" fmla="val 30000"/>
            </a:avLst>
          </a:prstGeom>
          <a:solidFill>
            <a:srgbClr val="D8D4D4"/>
          </a:solidFill>
          <a:ln/>
        </p:spPr>
      </p:sp>
      <p:sp>
        <p:nvSpPr>
          <p:cNvPr id="11" name="Text 9"/>
          <p:cNvSpPr/>
          <p:nvPr/>
        </p:nvSpPr>
        <p:spPr>
          <a:xfrm>
            <a:off x="6284854" y="3283148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Redesign View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284854" y="3691830"/>
            <a:ext cx="50500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should prompt a rethink of the work itself. Fitting new capability into pre-AI processes limits value.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6682" y="470465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screen must know which frame it applies.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628874"/>
            <a:ext cx="1177896" cy="287139"/>
          </a:xfrm>
          <a:prstGeom prst="roundRect">
            <a:avLst>
              <a:gd name="adj" fmla="val 2654"/>
            </a:avLst>
          </a:prstGeom>
          <a:solidFill>
            <a:srgbClr val="D6CDFE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685528"/>
            <a:ext cx="156067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COURSE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99161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We Qualify Against the Existing Workflow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035796"/>
            <a:ext cx="5770220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Redesigning with AI-architected workflows is complex — it belongs to later work.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the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fast screen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assume the AI assistant will: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99202" y="3078361"/>
            <a:ext cx="4637269" cy="1039416"/>
          </a:xfrm>
          <a:prstGeom prst="roundRect">
            <a:avLst>
              <a:gd name="adj" fmla="val 733"/>
            </a:avLst>
          </a:prstGeom>
          <a:solidFill>
            <a:srgbClr val="D6CDF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8209" y="3371453"/>
            <a:ext cx="236234" cy="1890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13450" y="3295650"/>
            <a:ext cx="383401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baseline gives us the reason. Without it, there is no fast screen.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1475" y="4543028"/>
            <a:ext cx="3496877" cy="685998"/>
          </a:xfrm>
          <a:prstGeom prst="roundRect">
            <a:avLst>
              <a:gd name="adj" fmla="val 1111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6832" y="473839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Accelerate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4347359" y="4543028"/>
            <a:ext cx="3496877" cy="685998"/>
          </a:xfrm>
          <a:prstGeom prst="roundRect">
            <a:avLst>
              <a:gd name="adj" fmla="val 1111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42716" y="473839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Augment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8033244" y="4543028"/>
            <a:ext cx="3496877" cy="685998"/>
          </a:xfrm>
          <a:prstGeom prst="roundRect">
            <a:avLst>
              <a:gd name="adj" fmla="val 1111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8600" y="473839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Automate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123678"/>
            <a:ext cx="931343" cy="287139"/>
          </a:xfrm>
          <a:prstGeom prst="roundRect">
            <a:avLst>
              <a:gd name="adj" fmla="val 2654"/>
            </a:avLst>
          </a:prstGeom>
          <a:solidFill>
            <a:srgbClr val="D6CDFE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2180332"/>
            <a:ext cx="131411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48642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Build the Habit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3360539"/>
            <a:ext cx="425241" cy="425252"/>
          </a:xfrm>
          <a:prstGeom prst="roundRect">
            <a:avLst>
              <a:gd name="adj" fmla="val 179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2365" y="339596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75723" y="3425428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Map a process you know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275723" y="3834110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it as numbered steps with one job title per step.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63135" y="3360539"/>
            <a:ext cx="425241" cy="425252"/>
          </a:xfrm>
          <a:prstGeom prst="roundRect">
            <a:avLst>
              <a:gd name="adj" fmla="val 179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025" y="339596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77383" y="3425428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Write the single performance number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4977383" y="4129385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does the process perform </a:t>
            </a:r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? That is your baseline.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064794" y="3360539"/>
            <a:ext cx="425241" cy="425252"/>
          </a:xfrm>
          <a:prstGeom prst="roundRect">
            <a:avLst>
              <a:gd name="adj" fmla="val 179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5684" y="339596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79042" y="3425428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Measure every candidate against it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679042" y="4129385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baseline is the denominator for every promised improvement.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2026-09-18T20:32:50Z</dcterms:created>
  <dcterms:modified xsi:type="dcterms:W3CDTF">2026-09-18T20:32:50Z</dcterms:modified>
</cp:coreProperties>
</file>