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embeddedFontLst>
    <p:embeddedFont>
      <p:font typeface="IBM Plex Sans"/>
      <p:regular r:id="rId201314"/>
    </p:embeddedFont>
    <p:embeddedFont>
      <p:font typeface="IBM Plex Sans Bold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1.png"/><Relationship Id="rId4" Type="http://schemas.openxmlformats.org/officeDocument/2006/relationships/image" Target="../media/image-3-2.svg"/><Relationship Id="rId5" Type="http://schemas.openxmlformats.org/officeDocument/2006/relationships/image" Target="../media/image-3-1.png"/><Relationship Id="rId6" Type="http://schemas.openxmlformats.org/officeDocument/2006/relationships/image" Target="../media/image-3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2432447"/>
            <a:ext cx="1642128" cy="287139"/>
          </a:xfrm>
          <a:prstGeom prst="roundRect">
            <a:avLst>
              <a:gd name="adj" fmla="val 2654"/>
            </a:avLst>
          </a:prstGeom>
          <a:noFill/>
          <a:ln w="6350">
            <a:solidFill>
              <a:srgbClr val="D4CA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879" y="2489101"/>
            <a:ext cx="2024905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D4CA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CORE PROBLEM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2795191"/>
            <a:ext cx="10868745" cy="1630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100" b="1" dirty="0">
                <a:solidFill>
                  <a:srgbClr val="6F748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An unscored backlog sorts itself by whoever pitched best.</a:t>
            </a:r>
            <a:endParaRPr lang="en-US" sz="5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88039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6F748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A Familiar Situation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525350" y="2754511"/>
            <a:ext cx="5476043" cy="2223095"/>
          </a:xfrm>
          <a:prstGeom prst="roundRect">
            <a:avLst>
              <a:gd name="adj" fmla="val 1275"/>
            </a:avLst>
          </a:prstGeom>
          <a:solidFill>
            <a:srgbClr val="D4CAFE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14357" y="2943523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The Setup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714357" y="3427809"/>
            <a:ext cx="509802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 advise a multinational manufacturer. The list of AI ideas is already long.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332776" y="2943523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6F748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The Challenge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6332776" y="3427809"/>
            <a:ext cx="5203794" cy="1379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Functions across the company have answered the call — plant supervisors, supply chain, quality, service, corporate teams.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Now it's your job to make sense of it.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91988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6F748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No Two Requests Share a Shape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888555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quarter of submissions — and no common format.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3403600"/>
            <a:ext cx="3496877" cy="101937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77479" y="3618012"/>
            <a:ext cx="296646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121314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A prediction someone wants</a:t>
            </a:r>
            <a:endParaRPr lang="en-US" sz="18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7359" y="3403600"/>
            <a:ext cx="3496877" cy="101937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3363" y="3618012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121314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A system, not a problem</a:t>
            </a:r>
            <a:endParaRPr lang="en-US" sz="18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33244" y="3403600"/>
            <a:ext cx="3496877" cy="101937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349247" y="3618012"/>
            <a:ext cx="296646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121314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A workflow complaint with "AI" appended</a:t>
            </a:r>
            <a:endParaRPr lang="en-US" sz="1850" dirty="0"/>
          </a:p>
        </p:txBody>
      </p:sp>
      <p:sp>
        <p:nvSpPr>
          <p:cNvPr id="10" name="Text 5"/>
          <p:cNvSpPr/>
          <p:nvPr/>
        </p:nvSpPr>
        <p:spPr>
          <a:xfrm>
            <a:off x="661475" y="4635599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Plant supervisors, supply chain, quality, service — each entry a different shape, a different level of clarity.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6404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6F748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Four Kinds of Judgment — No Common Scale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232720"/>
            <a:ext cx="5339820" cy="1101824"/>
          </a:xfrm>
          <a:prstGeom prst="roundRect">
            <a:avLst>
              <a:gd name="adj" fmla="val 692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6832" y="2428081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121314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Business Value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6832" y="2836763"/>
            <a:ext cx="49491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Does this idea matter?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190301" y="2232720"/>
            <a:ext cx="5339919" cy="1101824"/>
          </a:xfrm>
          <a:prstGeom prst="roundRect">
            <a:avLst>
              <a:gd name="adj" fmla="val 692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85658" y="2428081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121314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Buildability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385658" y="2836763"/>
            <a:ext cx="49492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Can it be built?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61475" y="3523555"/>
            <a:ext cx="5339820" cy="1101824"/>
          </a:xfrm>
          <a:prstGeom prst="roundRect">
            <a:avLst>
              <a:gd name="adj" fmla="val 692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6832" y="3718917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121314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Data Readiness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56832" y="4127599"/>
            <a:ext cx="49491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Can the data be reached and trusted?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190301" y="3523555"/>
            <a:ext cx="5339919" cy="1101824"/>
          </a:xfrm>
          <a:prstGeom prst="roundRect">
            <a:avLst>
              <a:gd name="adj" fmla="val 692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85658" y="3718917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121314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Exposure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6385658" y="4127599"/>
            <a:ext cx="49492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Is the risk tolerable?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61475" y="4838005"/>
            <a:ext cx="10868745" cy="755948"/>
          </a:xfrm>
          <a:prstGeom prst="roundRect">
            <a:avLst>
              <a:gd name="adj" fmla="val 1008"/>
            </a:avLst>
          </a:prstGeom>
          <a:solidFill>
            <a:srgbClr val="FCF2B5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482" y="5105698"/>
            <a:ext cx="236234" cy="18901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275723" y="5074245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Without a shared scale, the room falls back on pitch quality and seniority — not merit.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7264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6F748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The Cost of No Screen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059384"/>
            <a:ext cx="425241" cy="425252"/>
          </a:xfrm>
          <a:prstGeom prst="roundRect">
            <a:avLst>
              <a:gd name="adj" fmla="val 1792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75723" y="2124273"/>
            <a:ext cx="45895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121314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Function head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1275723" y="2608560"/>
            <a:ext cx="45895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Already promised a plant something is coming.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61475" y="3289002"/>
            <a:ext cx="425241" cy="425252"/>
          </a:xfrm>
          <a:prstGeom prst="roundRect">
            <a:avLst>
              <a:gd name="adj" fmla="val 1792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75723" y="3353891"/>
            <a:ext cx="45895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121314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Data lead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1275723" y="3838178"/>
            <a:ext cx="45895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Fielding access requests for candidates that may never proceed.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61475" y="4821039"/>
            <a:ext cx="425241" cy="425252"/>
          </a:xfrm>
          <a:prstGeom prst="roundRect">
            <a:avLst>
              <a:gd name="adj" fmla="val 1792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75723" y="4885928"/>
            <a:ext cx="45895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121314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Finance partner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1275723" y="5370215"/>
            <a:ext cx="45895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Reserving budget against a number nobody can trace.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196651" y="1846759"/>
            <a:ext cx="5476043" cy="4038501"/>
          </a:xfrm>
          <a:prstGeom prst="roundRect">
            <a:avLst>
              <a:gd name="adj" fmla="val 702"/>
            </a:avLst>
          </a:prstGeom>
          <a:solidFill>
            <a:srgbClr val="D4CAFE">
              <a:alpha val="9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385658" y="2035770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Why it falls to you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6385658" y="2520057"/>
            <a:ext cx="5098029" cy="774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 alone hold no stake in any particular entry.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That's exactly why everyone expects the ordering from you.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5297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6F748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Judgment Before Tools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9830" y="1721644"/>
            <a:ext cx="8452035" cy="386834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41606" y="4518531"/>
            <a:ext cx="1586817" cy="611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121314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Size Exposure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6341783" y="4518531"/>
            <a:ext cx="1586817" cy="611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121314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Test Failure Conditions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4352827" y="4518531"/>
            <a:ext cx="1586817" cy="611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121314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Separate Questions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2320397" y="4518531"/>
            <a:ext cx="1586817" cy="611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121314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Define Candidates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61475" y="5802610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When you practice these skills, you can land each candidate on a verdict that helps the business.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2026-09-18T18:22:11Z</dcterms:created>
  <dcterms:modified xsi:type="dcterms:W3CDTF">2026-09-18T18:22:11Z</dcterms:modified>
</cp:coreProperties>
</file>