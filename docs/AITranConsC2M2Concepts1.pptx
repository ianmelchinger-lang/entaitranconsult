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5255"/>
            <a:ext cx="1092272" cy="272752"/>
          </a:xfrm>
          <a:prstGeom prst="roundRect">
            <a:avLst>
              <a:gd name="adj" fmla="val 2794"/>
            </a:avLst>
          </a:prstGeom>
          <a:noFill/>
          <a:ln w="6350">
            <a:solidFill>
              <a:srgbClr val="D4C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9125" y="669032"/>
            <a:ext cx="1486557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D4CA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5617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Decomposing a Candidate Use Case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773238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sentence. Multiple kinds of work. Separate them before you score anything.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658" y="2245221"/>
            <a:ext cx="9750380" cy="3997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50519" y="2773150"/>
            <a:ext cx="2323174" cy="290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Cut by Scope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50519" y="3146158"/>
            <a:ext cx="4697975" cy="226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 core vs supporting tasks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50519" y="3929604"/>
            <a:ext cx="2323174" cy="290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Cut by Work Type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50519" y="4302611"/>
            <a:ext cx="4697975" cy="22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Separate functional vs non-functional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50519" y="5096382"/>
            <a:ext cx="2323174" cy="290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Write Use Case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50519" y="5469390"/>
            <a:ext cx="4697975" cy="226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clear sentence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3978"/>
            <a:ext cx="847108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D4C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70632"/>
            <a:ext cx="122988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4CA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CUT ONE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7672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Rules vs. Patterns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63465"/>
            <a:ext cx="5203794" cy="5203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8032" y="2552052"/>
            <a:ext cx="1581872" cy="16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RULES-BASED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493757" y="3245962"/>
            <a:ext cx="1011569" cy="31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SYSTEMATIC PROCESS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283514" y="3685043"/>
            <a:ext cx="857976" cy="27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AUDITABLE &amp; CHEAPER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405012" y="2552052"/>
            <a:ext cx="2315201" cy="16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PATTERN-LEARNING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92868" y="3245962"/>
            <a:ext cx="1690746" cy="31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USES DATA, NEEDS MONITORING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39217" y="3704477"/>
            <a:ext cx="1042385" cy="29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MODEL GOVERNANCE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31107" y="5666275"/>
            <a:ext cx="695601" cy="28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ONGOING COSTS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32776" y="327610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Why it matters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6332776" y="3760391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Rules-based work is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cheaper, faster, and auditable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Pattern-learning carries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ongoing costs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training, monitoring, governance — that must be priced accordingly.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93354"/>
            <a:ext cx="875584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D4C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650008"/>
            <a:ext cx="125836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4CA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CUT TWO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560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One Process, Three Buckets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83021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invoice handling proposal — one use case, three very different kinds of work: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345259"/>
            <a:ext cx="10868745" cy="1404243"/>
          </a:xfrm>
          <a:prstGeom prst="roundRect">
            <a:avLst>
              <a:gd name="adj" fmla="val 543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825" y="3351609"/>
            <a:ext cx="3618616" cy="1391543"/>
          </a:xfrm>
          <a:custGeom>
            <a:avLst/>
            <a:gdLst/>
            <a:ahLst/>
            <a:cxnLst/>
            <a:rect l="l" t="t" r="r" b="b"/>
            <a:pathLst>
              <a:path w="3618616" h="1391543">
                <a:moveTo>
                  <a:pt x="6350" y="0"/>
                </a:moveTo>
                <a:lnTo>
                  <a:pt x="3618616" y="0"/>
                </a:lnTo>
                <a:lnTo>
                  <a:pt x="3618616" y="1391543"/>
                </a:lnTo>
                <a:lnTo>
                  <a:pt x="6350" y="1391543"/>
                </a:lnTo>
                <a:arcTo hR="6350" wR="6350" stAng="5400000" swAng="5400000"/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56832" y="3540621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Interpretation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56832" y="3949303"/>
            <a:ext cx="32406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Extract figures from scanned docs with varying layouts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86440" y="3351609"/>
            <a:ext cx="3618715" cy="139154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4286440" y="3351609"/>
            <a:ext cx="25399" cy="1391543"/>
          </a:xfrm>
          <a:prstGeom prst="roundRect">
            <a:avLst>
              <a:gd name="adj" fmla="val 30000"/>
            </a:avLst>
          </a:prstGeom>
          <a:solidFill>
            <a:srgbClr val="D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4475447" y="354062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Arithmetic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4475447" y="3949303"/>
            <a:ext cx="324070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that line items sum to the total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05155" y="3351609"/>
            <a:ext cx="3618715" cy="1391543"/>
          </a:xfrm>
          <a:custGeom>
            <a:avLst/>
            <a:gdLst/>
            <a:ahLst/>
            <a:cxnLst/>
            <a:rect l="l" t="t" r="r" b="b"/>
            <a:pathLst>
              <a:path w="3618715" h="1391543">
                <a:moveTo>
                  <a:pt x="0" y="0"/>
                </a:moveTo>
                <a:lnTo>
                  <a:pt x="3612365" y="0"/>
                </a:lnTo>
                <a:arcTo hR="6350" wR="6350" stAng="16200000" swAng="5400000"/>
                <a:lnTo>
                  <a:pt x="3618715" y="1385193"/>
                </a:lnTo>
                <a:arcTo hR="6350" wR="6350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5155" y="3351609"/>
            <a:ext cx="25399" cy="1391543"/>
          </a:xfrm>
          <a:prstGeom prst="roundRect">
            <a:avLst>
              <a:gd name="adj" fmla="val 30000"/>
            </a:avLst>
          </a:prstGeom>
          <a:solidFill>
            <a:srgbClr val="D8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8094162" y="354062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Rule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094162" y="3949303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amounts above a threshold to a second approver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496212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proposal. Three buckets. Never score them as one.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78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Scoring the Composite Is a Mistake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04616"/>
            <a:ext cx="2507394" cy="2122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3019028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Overbuild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503315"/>
            <a:ext cx="197698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 for training &amp; monitoring where a written rule would have done the job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7875" y="2804616"/>
            <a:ext cx="2507394" cy="21227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73879" y="3019028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Under-govern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673879" y="3503315"/>
            <a:ext cx="197698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Oversight budget gets spread across steps that never needed any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616237" y="2974677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the composite as a single thing and you mis-price it in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both directions at once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332776" y="2804616"/>
            <a:ext cx="25399" cy="944959"/>
          </a:xfrm>
          <a:prstGeom prst="roundRect">
            <a:avLst>
              <a:gd name="adj" fmla="val 50001"/>
            </a:avLst>
          </a:prstGeom>
          <a:solidFill>
            <a:srgbClr val="D4CAF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20106"/>
            <a:ext cx="1158151" cy="287139"/>
          </a:xfrm>
          <a:prstGeom prst="roundRect">
            <a:avLst>
              <a:gd name="adj" fmla="val 2654"/>
            </a:avLst>
          </a:prstGeom>
          <a:solidFill>
            <a:srgbClr val="D6CD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879" y="2188071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2176760"/>
            <a:ext cx="131411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4828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6F748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Try It on a Process You Know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661475" y="3356967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2365" y="339238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75723" y="3421856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Write out every step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75723" y="3830538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 the process you already understand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63135" y="3356967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34025" y="339238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977383" y="3421856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Mark each step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4977383" y="3830538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Rule somebody wrote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or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judgment somebody makes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064794" y="3356967"/>
            <a:ext cx="425241" cy="425252"/>
          </a:xfrm>
          <a:prstGeom prst="roundRect">
            <a:avLst>
              <a:gd name="adj" fmla="val 179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5684" y="339238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679042" y="3421856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121314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Read the marks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679042" y="3830538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21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tell you what a model must earn — and what ordinary software already handles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2026-09-18T18:26:03Z</dcterms:created>
  <dcterms:modified xsi:type="dcterms:W3CDTF">2026-09-18T18:26:03Z</dcterms:modified>
</cp:coreProperties>
</file>