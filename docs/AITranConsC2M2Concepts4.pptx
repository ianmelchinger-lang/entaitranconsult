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31876"/>
            <a:ext cx="2212126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888530"/>
            <a:ext cx="25949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SCREENING FRAMEWORK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1946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Data-Readiness Gate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06873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pass-or-fail condition that sits in front of every other judgment.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583781"/>
            <a:ext cx="5339820" cy="1442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79819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Inputs Must Be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4206875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Reachable, trusted, and lawfully usable for the stated purpose.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583781"/>
            <a:ext cx="5339919" cy="1442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305" y="379819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Outcomes Must Be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506305" y="4206875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Recorded consistently, by a stable definition.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10457"/>
            <a:ext cx="2522474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D4C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967111"/>
            <a:ext cx="29052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4CA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SEVEN SCREENING DIMENSIONS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2732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Most Dimensions Trade Against Each Other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47318"/>
            <a:ext cx="472468" cy="472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0177" y="314731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Business Value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370177" y="3556000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large prize can carry a moderate build cost.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3147318"/>
            <a:ext cx="472468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2617" y="314731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Workflow Fit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922617" y="3556000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determined sponsor can carry weak workflow fit.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36442"/>
            <a:ext cx="472468" cy="472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0177" y="4236442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 Readiness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370177" y="4645124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dimension that does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trade.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236442"/>
            <a:ext cx="472468" cy="472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22617" y="4236442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Risk &amp; Sponsorship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922617" y="4645124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Plus technical feasibility and measurement clarity.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9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Gate Returns One Answer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2854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other scores wait on it.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3443585"/>
            <a:ext cx="5476043" cy="1454547"/>
          </a:xfrm>
          <a:prstGeom prst="roundRect">
            <a:avLst>
              <a:gd name="adj" fmla="val 1949"/>
            </a:avLst>
          </a:prstGeom>
          <a:solidFill>
            <a:srgbClr val="D4CAFE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3632597"/>
            <a:ext cx="50980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 Clears the Gate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4123234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Candidate moves forward — assessed on all other dimensions.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632597"/>
            <a:ext cx="520379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 Fails the Gate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4123234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Candidate stops there, however well it scored elsewhere.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538"/>
            <a:ext cx="1760394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585192"/>
            <a:ext cx="214317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LABEL QUESTION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12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Sharp Form of the Gate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76539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can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reverse the judgment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candidates that looked ready.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903" y="2280444"/>
            <a:ext cx="9761789" cy="35338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1494" y="4940831"/>
            <a:ext cx="2033438" cy="31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Build Training Set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31494" y="3875686"/>
            <a:ext cx="1852918" cy="31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Assign Outcome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31494" y="2799673"/>
            <a:ext cx="1912865" cy="31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Record Situation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602694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paired outcome is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label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 collection of labels is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training set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04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Operational Data ≠ Training Labels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65016"/>
            <a:ext cx="64500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You Have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149302"/>
            <a:ext cx="705963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 years of equipment readings — every machine state, every hour.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711575"/>
            <a:ext cx="6450050" cy="25400"/>
          </a:xfrm>
          <a:prstGeom prst="roundRect">
            <a:avLst>
              <a:gd name="adj" fmla="val 49999"/>
            </a:avLst>
          </a:prstGeom>
          <a:solidFill>
            <a:srgbClr val="121314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996829"/>
            <a:ext cx="64500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You Need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4481116"/>
            <a:ext cx="64500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Someone had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decide to write down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each failure — time, standard, definition — in a separate record.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9031" y="1887240"/>
            <a:ext cx="3957439" cy="39575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582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Outcome Record Exists?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26928"/>
            <a:ext cx="10868745" cy="1404243"/>
          </a:xfrm>
          <a:prstGeom prst="roundRect">
            <a:avLst>
              <a:gd name="adj" fmla="val 543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733278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350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350" y="1391543"/>
                </a:lnTo>
                <a:arcTo hR="6350" wR="6350" stAng="5400000" swAng="5400000"/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92229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Yes → Buildable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330972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 moves on. Candidate has passed the gate.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733278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421673" y="0"/>
                </a:lnTo>
                <a:arcTo hR="6350" wR="6350" stAng="16200000" swAng="5400000"/>
                <a:lnTo>
                  <a:pt x="5428023" y="1385193"/>
                </a:lnTo>
                <a:arcTo hR="6350" wR="6350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733278"/>
            <a:ext cx="25399" cy="1391543"/>
          </a:xfrm>
          <a:prstGeom prst="roundRect">
            <a:avLst>
              <a:gd name="adj" fmla="val 30000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292229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 → On Wait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330972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recording the outcome. Assign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start date and an owner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343797"/>
            <a:ext cx="10868745" cy="755948"/>
          </a:xfrm>
          <a:prstGeom prst="roundRect">
            <a:avLst>
              <a:gd name="adj" fmla="val 1008"/>
            </a:avLst>
          </a:prstGeom>
          <a:solidFill>
            <a:srgbClr val="D6CD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611489"/>
            <a:ext cx="236234" cy="1890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5723" y="458003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Making the recording project clear helps a sponsor far more than a low score on a data column.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214662"/>
            <a:ext cx="931343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271316"/>
            <a:ext cx="13141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577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Ask It in Its Sharpest Form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3451523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2365" y="348694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5723" y="3516412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had to be written down?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75723" y="3925094"/>
            <a:ext cx="4701958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time, by the same definition,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this prediction to be learnable at all.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3915" y="3451523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4805" y="348694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28163" y="3516412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gives you reason to believe they did?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828163" y="3925094"/>
            <a:ext cx="47020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the evidence in the candidate — or stop there.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2026-09-18T20:21:41Z</dcterms:created>
  <dcterms:modified xsi:type="dcterms:W3CDTF">2026-09-18T20:21:41Z</dcterms:modified>
</cp:coreProperties>
</file>